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2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56032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做 AI 投资？最大的差异不是模型，而是产业链。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686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4BED2"/>
                </a:solidFill>
                <a:latin typeface="Microsoft YaHei"/>
              </a:defRPr>
            </a:pPr>
            <a:r>
              <a:t>五层结构，一条链条，价值从芯片流向应用。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600200"/>
            <a:ext cx="2178649" cy="3977639"/>
          </a:xfrm>
          <a:prstGeom prst="roundRect">
            <a:avLst/>
          </a:prstGeom>
          <a:solidFill>
            <a:srgbClr val="0E1C32"/>
          </a:solidFill>
          <a:ln w="12700">
            <a:solidFill>
              <a:srgbClr val="1E3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1737360"/>
            <a:ext cx="1959193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算力层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167128"/>
            <a:ext cx="1995769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B4BED2"/>
                </a:solidFill>
                <a:latin typeface="Microsoft YaHei"/>
              </a:defRPr>
            </a:pPr>
            <a:r>
              <a:t>生于硅片，GPU 与 HBM</a:t>
            </a:r>
            <a:br/>
            <a:r>
              <a:t>驱动一切。</a:t>
            </a:r>
          </a:p>
        </p:txBody>
      </p:sp>
      <p:sp>
        <p:nvSpPr>
          <p:cNvPr id="9" name="Oval 8"/>
          <p:cNvSpPr/>
          <p:nvPr/>
        </p:nvSpPr>
        <p:spPr>
          <a:xfrm>
            <a:off x="1080180" y="3017520"/>
            <a:ext cx="658368" cy="658368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0180" y="3127248"/>
            <a:ext cx="658368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840480"/>
            <a:ext cx="1904329" cy="1508760"/>
          </a:xfrm>
          <a:prstGeom prst="roundRect">
            <a:avLst/>
          </a:prstGeom>
          <a:solidFill>
            <a:srgbClr val="162844"/>
          </a:solidFill>
          <a:ln w="9525">
            <a:solidFill>
              <a:srgbClr val="2D4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4343400"/>
            <a:ext cx="190432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6482AA"/>
                </a:solidFill>
                <a:latin typeface="Microsoft YaHei"/>
              </a:defRPr>
            </a:pPr>
            <a:r>
              <a:t>← 可替换图片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63281" y="1600200"/>
            <a:ext cx="2178649" cy="3977639"/>
          </a:xfrm>
          <a:prstGeom prst="roundRect">
            <a:avLst/>
          </a:prstGeom>
          <a:solidFill>
            <a:srgbClr val="0E1C32"/>
          </a:solidFill>
          <a:ln w="12700">
            <a:solidFill>
              <a:srgbClr val="1E3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73009" y="1737360"/>
            <a:ext cx="1959193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基础设施层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54721" y="2167128"/>
            <a:ext cx="1995769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B4BED2"/>
                </a:solidFill>
                <a:latin typeface="Microsoft YaHei"/>
              </a:defRPr>
            </a:pPr>
            <a:r>
              <a:t>电力、液冷与万卡</a:t>
            </a:r>
            <a:br/>
            <a:r>
              <a:t>集群规模化。</a:t>
            </a:r>
          </a:p>
        </p:txBody>
      </p:sp>
      <p:sp>
        <p:nvSpPr>
          <p:cNvPr id="16" name="Oval 15"/>
          <p:cNvSpPr/>
          <p:nvPr/>
        </p:nvSpPr>
        <p:spPr>
          <a:xfrm>
            <a:off x="3423421" y="3017520"/>
            <a:ext cx="658368" cy="658368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23421" y="3127248"/>
            <a:ext cx="658368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云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00441" y="3840480"/>
            <a:ext cx="1904329" cy="1508760"/>
          </a:xfrm>
          <a:prstGeom prst="roundRect">
            <a:avLst/>
          </a:prstGeom>
          <a:solidFill>
            <a:srgbClr val="162844"/>
          </a:solidFill>
          <a:ln w="9525">
            <a:solidFill>
              <a:srgbClr val="2D4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00441" y="4343400"/>
            <a:ext cx="190432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6482AA"/>
                </a:solidFill>
                <a:latin typeface="Microsoft YaHei"/>
              </a:defRPr>
            </a:pPr>
            <a:r>
              <a:t>← 可替换图片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06522" y="1600200"/>
            <a:ext cx="2178649" cy="3977639"/>
          </a:xfrm>
          <a:prstGeom prst="roundRect">
            <a:avLst/>
          </a:prstGeom>
          <a:solidFill>
            <a:srgbClr val="0E1C32"/>
          </a:solidFill>
          <a:ln w="12700">
            <a:solidFill>
              <a:srgbClr val="1E3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16250" y="1737360"/>
            <a:ext cx="1959193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模型层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97962" y="2167128"/>
            <a:ext cx="1995769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B4BED2"/>
                </a:solidFill>
                <a:latin typeface="Microsoft YaHei"/>
              </a:defRPr>
            </a:pPr>
            <a:r>
              <a:t>数据训练，算力炼成</a:t>
            </a:r>
            <a:br/>
            <a:r>
              <a:t>认知能力。</a:t>
            </a:r>
          </a:p>
        </p:txBody>
      </p:sp>
      <p:sp>
        <p:nvSpPr>
          <p:cNvPr id="23" name="Oval 22"/>
          <p:cNvSpPr/>
          <p:nvPr/>
        </p:nvSpPr>
        <p:spPr>
          <a:xfrm>
            <a:off x="5766662" y="3017520"/>
            <a:ext cx="658368" cy="658368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66662" y="3127248"/>
            <a:ext cx="658368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脑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143682" y="3840480"/>
            <a:ext cx="1904329" cy="1508760"/>
          </a:xfrm>
          <a:prstGeom prst="roundRect">
            <a:avLst/>
          </a:prstGeom>
          <a:solidFill>
            <a:srgbClr val="162844"/>
          </a:solidFill>
          <a:ln w="9525">
            <a:solidFill>
              <a:srgbClr val="2D4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43682" y="4343400"/>
            <a:ext cx="190432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6482AA"/>
                </a:solidFill>
                <a:latin typeface="Microsoft YaHei"/>
              </a:defRPr>
            </a:pPr>
            <a:r>
              <a:t>← 可替换图片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49763" y="1600200"/>
            <a:ext cx="2178649" cy="3977639"/>
          </a:xfrm>
          <a:prstGeom prst="roundRect">
            <a:avLst/>
          </a:prstGeom>
          <a:solidFill>
            <a:srgbClr val="0E1C32"/>
          </a:solidFill>
          <a:ln w="12700">
            <a:solidFill>
              <a:srgbClr val="1E3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59491" y="1737360"/>
            <a:ext cx="1959193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智能体层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41203" y="2167128"/>
            <a:ext cx="1995769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B4BED2"/>
                </a:solidFill>
                <a:latin typeface="Microsoft YaHei"/>
              </a:defRPr>
            </a:pPr>
            <a:r>
              <a:t>工具编排，自主规划</a:t>
            </a:r>
            <a:br/>
            <a:r>
              <a:t>与闭环执行。</a:t>
            </a:r>
          </a:p>
        </p:txBody>
      </p:sp>
      <p:sp>
        <p:nvSpPr>
          <p:cNvPr id="30" name="Oval 29"/>
          <p:cNvSpPr/>
          <p:nvPr/>
        </p:nvSpPr>
        <p:spPr>
          <a:xfrm>
            <a:off x="8109903" y="3017520"/>
            <a:ext cx="658368" cy="658368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09903" y="3127248"/>
            <a:ext cx="658368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链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86923" y="3840480"/>
            <a:ext cx="1904329" cy="1508760"/>
          </a:xfrm>
          <a:prstGeom prst="roundRect">
            <a:avLst/>
          </a:prstGeom>
          <a:solidFill>
            <a:srgbClr val="162844"/>
          </a:solidFill>
          <a:ln w="9525">
            <a:solidFill>
              <a:srgbClr val="2D4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86923" y="4343400"/>
            <a:ext cx="190432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6482AA"/>
                </a:solidFill>
                <a:latin typeface="Microsoft YaHei"/>
              </a:defRPr>
            </a:pPr>
            <a:r>
              <a:t>← 可替换图片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693004" y="1600200"/>
            <a:ext cx="2178649" cy="3977639"/>
          </a:xfrm>
          <a:prstGeom prst="roundRect">
            <a:avLst/>
          </a:prstGeom>
          <a:solidFill>
            <a:srgbClr val="0E1C32"/>
          </a:solidFill>
          <a:ln w="12700">
            <a:solidFill>
              <a:srgbClr val="1E3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802732" y="1737360"/>
            <a:ext cx="1959193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应用层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84444" y="2167128"/>
            <a:ext cx="1995769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B4BED2"/>
                </a:solidFill>
                <a:latin typeface="Microsoft YaHei"/>
              </a:defRPr>
            </a:pPr>
            <a:r>
              <a:t>落地千行百业，</a:t>
            </a:r>
            <a:br/>
            <a:r>
              <a:t>嵌入日常工作。</a:t>
            </a:r>
          </a:p>
        </p:txBody>
      </p:sp>
      <p:sp>
        <p:nvSpPr>
          <p:cNvPr id="37" name="Oval 36"/>
          <p:cNvSpPr/>
          <p:nvPr/>
        </p:nvSpPr>
        <p:spPr>
          <a:xfrm>
            <a:off x="10453144" y="3017520"/>
            <a:ext cx="658368" cy="658368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453144" y="3127248"/>
            <a:ext cx="658368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用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830164" y="3840480"/>
            <a:ext cx="1904329" cy="1508760"/>
          </a:xfrm>
          <a:prstGeom prst="roundRect">
            <a:avLst/>
          </a:prstGeom>
          <a:solidFill>
            <a:srgbClr val="162844"/>
          </a:solidFill>
          <a:ln w="9525">
            <a:solidFill>
              <a:srgbClr val="2D4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830164" y="4343400"/>
            <a:ext cx="190432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6482AA"/>
                </a:solidFill>
                <a:latin typeface="Microsoft YaHei"/>
              </a:defRPr>
            </a:pPr>
            <a:r>
              <a:t>← 可替换图片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5806440"/>
            <a:ext cx="12191695" cy="960120"/>
          </a:xfrm>
          <a:prstGeom prst="rect">
            <a:avLst/>
          </a:prstGeom>
          <a:solidFill>
            <a:srgbClr val="12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80" y="6062472"/>
            <a:ext cx="65836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500">
                <a:solidFill>
                  <a:srgbClr val="FFFFFF"/>
                </a:solidFill>
                <a:latin typeface="Microsoft YaHei"/>
              </a:rPr>
              <a:t>同一技术，不同层级。</a:t>
            </a:r>
            <a:r>
              <a:rPr sz="1500" b="1">
                <a:solidFill>
                  <a:srgbClr val="F5C518"/>
                </a:solidFill>
                <a:latin typeface="Microsoft YaHei"/>
              </a:rPr>
              <a:t>看懂产业链，才能抓住价值。</a:t>
            </a:r>
          </a:p>
        </p:txBody>
      </p:sp>
      <p:sp>
        <p:nvSpPr>
          <p:cNvPr id="43" name="Oval 42"/>
          <p:cNvSpPr/>
          <p:nvPr/>
        </p:nvSpPr>
        <p:spPr>
          <a:xfrm>
            <a:off x="7406640" y="5971032"/>
            <a:ext cx="384048" cy="384048"/>
          </a:xfrm>
          <a:prstGeom prst="ellipse">
            <a:avLst/>
          </a:prstGeom>
          <a:solidFill>
            <a:srgbClr val="1E375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60920" y="6409944"/>
            <a:ext cx="1234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资本开支</a:t>
            </a:r>
          </a:p>
        </p:txBody>
      </p:sp>
      <p:sp>
        <p:nvSpPr>
          <p:cNvPr id="45" name="Oval 44"/>
          <p:cNvSpPr/>
          <p:nvPr/>
        </p:nvSpPr>
        <p:spPr>
          <a:xfrm>
            <a:off x="8869680" y="5971032"/>
            <a:ext cx="384048" cy="384048"/>
          </a:xfrm>
          <a:prstGeom prst="ellipse">
            <a:avLst/>
          </a:prstGeom>
          <a:solidFill>
            <a:srgbClr val="1E375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823960" y="6409944"/>
            <a:ext cx="1234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推理延迟</a:t>
            </a:r>
          </a:p>
        </p:txBody>
      </p:sp>
      <p:sp>
        <p:nvSpPr>
          <p:cNvPr id="47" name="Oval 46"/>
          <p:cNvSpPr/>
          <p:nvPr/>
        </p:nvSpPr>
        <p:spPr>
          <a:xfrm>
            <a:off x="10332720" y="5971032"/>
            <a:ext cx="384048" cy="384048"/>
          </a:xfrm>
          <a:prstGeom prst="ellipse">
            <a:avLst/>
          </a:prstGeom>
          <a:solidFill>
            <a:srgbClr val="1E375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287000" y="6409944"/>
            <a:ext cx="1234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单位经济</a:t>
            </a:r>
          </a:p>
        </p:txBody>
      </p:sp>
      <p:sp>
        <p:nvSpPr>
          <p:cNvPr id="49" name="Oval 48"/>
          <p:cNvSpPr/>
          <p:nvPr/>
        </p:nvSpPr>
        <p:spPr>
          <a:xfrm>
            <a:off x="11795760" y="5971032"/>
            <a:ext cx="384048" cy="384048"/>
          </a:xfrm>
          <a:prstGeom prst="ellipse">
            <a:avLst/>
          </a:prstGeom>
          <a:solidFill>
            <a:srgbClr val="1E375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750040" y="6409944"/>
            <a:ext cx="1234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产品契合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B4BED2"/>
                </a:solidFill>
                <a:latin typeface="Microsoft YaHei"/>
              </a:defRPr>
            </a:pPr>
            <a:r>
              <a:t>参考图（第 1 页为可编辑版本）</a:t>
            </a:r>
          </a:p>
        </p:txBody>
      </p:sp>
      <p:pic>
        <p:nvPicPr>
          <p:cNvPr id="4" name="Picture 3" descr="ai-industry-chain-infographic-z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502920"/>
            <a:ext cx="11795760" cy="78638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