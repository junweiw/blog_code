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做 AI 投资？最大的差异不是模型，而是产业链。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B4BED2"/>
                </a:solidFill>
                <a:latin typeface="Microsoft YaHei"/>
              </a:defRPr>
            </a:pPr>
            <a:r>
              <a:t>五层结构，一条链条，价值从芯片流向应用。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08760"/>
            <a:ext cx="2211567" cy="4114800"/>
          </a:xfrm>
          <a:prstGeom prst="roundRect">
            <a:avLst>
              <a:gd name="adj" fmla="val 8000"/>
            </a:avLst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618488"/>
            <a:ext cx="20652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算力层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984248"/>
            <a:ext cx="20652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生于硅片，GPU 与 HBM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驱动一切。</a:t>
            </a:r>
          </a:p>
        </p:txBody>
      </p:sp>
      <p:pic>
        <p:nvPicPr>
          <p:cNvPr id="9" name="Picture 8" descr="01-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19" y="2697480"/>
            <a:ext cx="658368" cy="658368"/>
          </a:xfrm>
          <a:prstGeom prst="rect">
            <a:avLst/>
          </a:prstGeom>
        </p:spPr>
      </p:pic>
      <p:pic>
        <p:nvPicPr>
          <p:cNvPr id="10" name="Picture 9" descr="01-comp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520440"/>
            <a:ext cx="1992111" cy="18745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632191" y="1508760"/>
            <a:ext cx="2211567" cy="4114800"/>
          </a:xfrm>
          <a:prstGeom prst="roundRect">
            <a:avLst>
              <a:gd name="adj" fmla="val 8000"/>
            </a:avLst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5343" y="1618488"/>
            <a:ext cx="20652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5343" y="1984248"/>
            <a:ext cx="20652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电力、液冷与万卡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集群规模化。</a:t>
            </a:r>
          </a:p>
        </p:txBody>
      </p:sp>
      <p:pic>
        <p:nvPicPr>
          <p:cNvPr id="14" name="Picture 13" descr="02-inf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791" y="2697480"/>
            <a:ext cx="658368" cy="658368"/>
          </a:xfrm>
          <a:prstGeom prst="rect">
            <a:avLst/>
          </a:prstGeom>
        </p:spPr>
      </p:pic>
      <p:pic>
        <p:nvPicPr>
          <p:cNvPr id="15" name="Picture 14" descr="02-inf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919" y="3520440"/>
            <a:ext cx="1992111" cy="187451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990063" y="1508760"/>
            <a:ext cx="2211567" cy="4114800"/>
          </a:xfrm>
          <a:prstGeom prst="roundRect">
            <a:avLst>
              <a:gd name="adj" fmla="val 8000"/>
            </a:avLst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3215" y="1618488"/>
            <a:ext cx="20652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模型层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3215" y="1984248"/>
            <a:ext cx="20652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数据训练，算力炼成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认知能力。</a:t>
            </a:r>
          </a:p>
        </p:txBody>
      </p:sp>
      <p:pic>
        <p:nvPicPr>
          <p:cNvPr id="19" name="Picture 18" descr="03-mo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6663" y="2697480"/>
            <a:ext cx="658368" cy="658368"/>
          </a:xfrm>
          <a:prstGeom prst="rect">
            <a:avLst/>
          </a:prstGeom>
        </p:spPr>
      </p:pic>
      <p:pic>
        <p:nvPicPr>
          <p:cNvPr id="20" name="Picture 19" descr="03-mod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9791" y="3520440"/>
            <a:ext cx="1992111" cy="1874519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347935" y="1508760"/>
            <a:ext cx="2211567" cy="4114800"/>
          </a:xfrm>
          <a:prstGeom prst="roundRect">
            <a:avLst>
              <a:gd name="adj" fmla="val 8000"/>
            </a:avLst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1087" y="1618488"/>
            <a:ext cx="20652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智能体层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1087" y="1984248"/>
            <a:ext cx="20652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工具编排，自主规划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与闭环执行。</a:t>
            </a:r>
          </a:p>
        </p:txBody>
      </p:sp>
      <p:pic>
        <p:nvPicPr>
          <p:cNvPr id="24" name="Picture 23" descr="04-ag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4535" y="2697480"/>
            <a:ext cx="658368" cy="658368"/>
          </a:xfrm>
          <a:prstGeom prst="rect">
            <a:avLst/>
          </a:prstGeom>
        </p:spPr>
      </p:pic>
      <p:pic>
        <p:nvPicPr>
          <p:cNvPr id="25" name="Picture 24" descr="04-ag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7663" y="3520440"/>
            <a:ext cx="1992111" cy="187451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705807" y="1508760"/>
            <a:ext cx="2211567" cy="4114800"/>
          </a:xfrm>
          <a:prstGeom prst="roundRect">
            <a:avLst>
              <a:gd name="adj" fmla="val 8000"/>
            </a:avLst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8959" y="1618488"/>
            <a:ext cx="20652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8959" y="1984248"/>
            <a:ext cx="20652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落地千行百业，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嵌入日常工作。</a:t>
            </a:r>
          </a:p>
        </p:txBody>
      </p:sp>
      <p:pic>
        <p:nvPicPr>
          <p:cNvPr id="29" name="Picture 28" descr="05-ap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82407" y="2697480"/>
            <a:ext cx="658368" cy="658368"/>
          </a:xfrm>
          <a:prstGeom prst="rect">
            <a:avLst/>
          </a:prstGeom>
        </p:spPr>
      </p:pic>
      <p:pic>
        <p:nvPicPr>
          <p:cNvPr id="30" name="Picture 29" descr="05-ap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5535" y="3520440"/>
            <a:ext cx="1992111" cy="187451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5806440"/>
            <a:ext cx="12191695" cy="96012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062472"/>
            <a:ext cx="6217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Microsoft YaHei"/>
              </a:rPr>
              <a:t>同一技术，不同层级。</a:t>
            </a:r>
            <a:r>
              <a:rPr sz="1400" b="1">
                <a:solidFill>
                  <a:srgbClr val="F5C518"/>
                </a:solidFill>
                <a:latin typeface="Microsoft YaHei"/>
              </a:rPr>
              <a:t>看懂产业链，才能抓住价值。</a:t>
            </a:r>
          </a:p>
        </p:txBody>
      </p:sp>
      <p:pic>
        <p:nvPicPr>
          <p:cNvPr id="33" name="Picture 32" descr="01-capex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0" y="5916168"/>
            <a:ext cx="365760" cy="365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49440" y="632764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资本开支</a:t>
            </a:r>
          </a:p>
        </p:txBody>
      </p:sp>
      <p:pic>
        <p:nvPicPr>
          <p:cNvPr id="35" name="Picture 34" descr="02-latenc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41080" y="5916168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75320" y="632764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推理延迟</a:t>
            </a:r>
          </a:p>
        </p:txBody>
      </p:sp>
      <p:pic>
        <p:nvPicPr>
          <p:cNvPr id="37" name="Picture 36" descr="03-uni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6960" y="5916168"/>
            <a:ext cx="365760" cy="3657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601200" y="632764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单位经济</a:t>
            </a:r>
          </a:p>
        </p:txBody>
      </p:sp>
      <p:pic>
        <p:nvPicPr>
          <p:cNvPr id="39" name="Picture 38" descr="04-pm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92840" y="5916168"/>
            <a:ext cx="365760" cy="3657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927080" y="632764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B4BED2"/>
                </a:solidFill>
                <a:latin typeface="Microsoft YaHei"/>
              </a:defRPr>
            </a:pPr>
            <a:r>
              <a:t>产品契合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