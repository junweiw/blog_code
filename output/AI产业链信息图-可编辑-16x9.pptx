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22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1338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做 AI 投资？最大的差异不是模型，而是产业链。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B4BED2"/>
                </a:solidFill>
                <a:latin typeface="Microsoft YaHei"/>
              </a:defRPr>
            </a:pPr>
            <a:r>
              <a:t>五层结构，一条链条，价值从芯片流向应用。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算力层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生于硅片，GPU 与 HBM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驱动一切。</a:t>
            </a:r>
          </a:p>
        </p:txBody>
      </p:sp>
      <p:grpSp>
        <p:nvGrpSpPr>
          <p:cNvPr id="11" name="IconGroup"/>
          <p:cNvGrpSpPr/>
          <p:nvPr/>
        </p:nvGrpSpPr>
        <p:grpSpPr>
          <a:xfrm>
            <a:off x="1023487" y="2679192"/>
            <a:ext cx="713232" cy="713232"/>
            <a:chOff x="1023487" y="2679192"/>
            <a:chExt cx="713232" cy="713232"/>
          </a:xfrm>
        </p:grpSpPr>
        <p:sp>
          <p:nvSpPr>
            <p:cNvPr id="9" name="Oval 8"/>
            <p:cNvSpPr/>
            <p:nvPr/>
          </p:nvSpPr>
          <p:spPr>
            <a:xfrm>
              <a:off x="1023487" y="2679192"/>
              <a:ext cx="713232" cy="713232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0" name="Picture 9" descr="01-comput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2359" y="2798064"/>
              <a:ext cx="475488" cy="475488"/>
            </a:xfrm>
            <a:prstGeom prst="rect">
              <a:avLst/>
            </a:prstGeom>
          </p:spPr>
        </p:pic>
      </p:grpSp>
      <p:pic>
        <p:nvPicPr>
          <p:cNvPr id="12" name="Picture 11" descr="01-comp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520440"/>
            <a:ext cx="1992111" cy="187451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632191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5343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基础设施层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343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电力、液冷与万卡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集群规模化。</a:t>
            </a:r>
          </a:p>
        </p:txBody>
      </p:sp>
      <p:grpSp>
        <p:nvGrpSpPr>
          <p:cNvPr id="18" name="IconGroup"/>
          <p:cNvGrpSpPr/>
          <p:nvPr/>
        </p:nvGrpSpPr>
        <p:grpSpPr>
          <a:xfrm>
            <a:off x="3381359" y="2679192"/>
            <a:ext cx="713232" cy="713232"/>
            <a:chOff x="3381359" y="2679192"/>
            <a:chExt cx="713232" cy="713232"/>
          </a:xfrm>
        </p:grpSpPr>
        <p:sp>
          <p:nvSpPr>
            <p:cNvPr id="16" name="Oval 15"/>
            <p:cNvSpPr/>
            <p:nvPr/>
          </p:nvSpPr>
          <p:spPr>
            <a:xfrm>
              <a:off x="3381359" y="2679192"/>
              <a:ext cx="713232" cy="713232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7" name="Picture 16" descr="02-infra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00231" y="2798064"/>
              <a:ext cx="475488" cy="475488"/>
            </a:xfrm>
            <a:prstGeom prst="rect">
              <a:avLst/>
            </a:prstGeom>
          </p:spPr>
        </p:pic>
      </p:grpSp>
      <p:pic>
        <p:nvPicPr>
          <p:cNvPr id="19" name="Picture 18" descr="02-infr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1919" y="3520440"/>
            <a:ext cx="1992111" cy="1874519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90063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3215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模型层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3215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数据训练，算力炼成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认知能力。</a:t>
            </a:r>
          </a:p>
        </p:txBody>
      </p:sp>
      <p:grpSp>
        <p:nvGrpSpPr>
          <p:cNvPr id="25" name="IconGroup"/>
          <p:cNvGrpSpPr/>
          <p:nvPr/>
        </p:nvGrpSpPr>
        <p:grpSpPr>
          <a:xfrm>
            <a:off x="5739231" y="2679192"/>
            <a:ext cx="713232" cy="713232"/>
            <a:chOff x="5739231" y="2679192"/>
            <a:chExt cx="713232" cy="713232"/>
          </a:xfrm>
        </p:grpSpPr>
        <p:sp>
          <p:nvSpPr>
            <p:cNvPr id="23" name="Oval 22"/>
            <p:cNvSpPr/>
            <p:nvPr/>
          </p:nvSpPr>
          <p:spPr>
            <a:xfrm>
              <a:off x="5739231" y="2679192"/>
              <a:ext cx="713232" cy="713232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icture 23" descr="03-model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58103" y="2798064"/>
              <a:ext cx="475488" cy="475488"/>
            </a:xfrm>
            <a:prstGeom prst="rect">
              <a:avLst/>
            </a:prstGeom>
          </p:spPr>
        </p:pic>
      </p:grpSp>
      <p:pic>
        <p:nvPicPr>
          <p:cNvPr id="26" name="Picture 25" descr="03-mod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9791" y="3520440"/>
            <a:ext cx="1992111" cy="1874519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347935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1087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智能体层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1087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工具编排，自主规划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与闭环执行。</a:t>
            </a:r>
          </a:p>
        </p:txBody>
      </p:sp>
      <p:grpSp>
        <p:nvGrpSpPr>
          <p:cNvPr id="32" name="IconGroup"/>
          <p:cNvGrpSpPr/>
          <p:nvPr/>
        </p:nvGrpSpPr>
        <p:grpSpPr>
          <a:xfrm>
            <a:off x="8097103" y="2679192"/>
            <a:ext cx="713232" cy="713232"/>
            <a:chOff x="8097103" y="2679192"/>
            <a:chExt cx="713232" cy="713232"/>
          </a:xfrm>
        </p:grpSpPr>
        <p:sp>
          <p:nvSpPr>
            <p:cNvPr id="30" name="Oval 29"/>
            <p:cNvSpPr/>
            <p:nvPr/>
          </p:nvSpPr>
          <p:spPr>
            <a:xfrm>
              <a:off x="8097103" y="2679192"/>
              <a:ext cx="713232" cy="713232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1" name="Picture 30" descr="04-agent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215975" y="2798064"/>
              <a:ext cx="475488" cy="475488"/>
            </a:xfrm>
            <a:prstGeom prst="rect">
              <a:avLst/>
            </a:prstGeom>
          </p:spPr>
        </p:pic>
      </p:grpSp>
      <p:pic>
        <p:nvPicPr>
          <p:cNvPr id="33" name="Picture 32" descr="04-ag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7663" y="3520440"/>
            <a:ext cx="1992111" cy="187451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9705807" y="1508760"/>
            <a:ext cx="2211567" cy="4114800"/>
          </a:xfrm>
          <a:prstGeom prst="roundRect">
            <a:avLst>
              <a:gd name="adj" fmla="val 8000"/>
            </a:avLst>
          </a:prstGeom>
          <a:solidFill>
            <a:srgbClr val="0E1C32"/>
          </a:solidFill>
          <a:ln w="12700">
            <a:solidFill>
              <a:srgbClr val="1E3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78959" y="1618488"/>
            <a:ext cx="20652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应用层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8959" y="1984248"/>
            <a:ext cx="20652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落地千行百业，</a:t>
            </a:r>
          </a:p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嵌入日常工作。</a:t>
            </a:r>
          </a:p>
        </p:txBody>
      </p:sp>
      <p:grpSp>
        <p:nvGrpSpPr>
          <p:cNvPr id="39" name="IconGroup"/>
          <p:cNvGrpSpPr/>
          <p:nvPr/>
        </p:nvGrpSpPr>
        <p:grpSpPr>
          <a:xfrm>
            <a:off x="10454975" y="2679192"/>
            <a:ext cx="713232" cy="713232"/>
            <a:chOff x="10454975" y="2679192"/>
            <a:chExt cx="713232" cy="713232"/>
          </a:xfrm>
        </p:grpSpPr>
        <p:sp>
          <p:nvSpPr>
            <p:cNvPr id="37" name="Oval 36"/>
            <p:cNvSpPr/>
            <p:nvPr/>
          </p:nvSpPr>
          <p:spPr>
            <a:xfrm>
              <a:off x="10454975" y="2679192"/>
              <a:ext cx="713232" cy="713232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icture 37" descr="05-app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573847" y="2798064"/>
              <a:ext cx="475488" cy="475488"/>
            </a:xfrm>
            <a:prstGeom prst="rect">
              <a:avLst/>
            </a:prstGeom>
          </p:spPr>
        </p:pic>
      </p:grpSp>
      <p:pic>
        <p:nvPicPr>
          <p:cNvPr id="40" name="Picture 39" descr="05-ap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5535" y="3520440"/>
            <a:ext cx="1992111" cy="1874519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0" y="5806440"/>
            <a:ext cx="12191695" cy="960120"/>
          </a:xfrm>
          <a:prstGeom prst="rect">
            <a:avLst/>
          </a:prstGeom>
          <a:solidFill>
            <a:srgbClr val="122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062472"/>
            <a:ext cx="6217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Microsoft YaHei"/>
              </a:rPr>
              <a:t>同一技术，不同层级。</a:t>
            </a:r>
            <a:r>
              <a:rPr sz="1400" b="1">
                <a:solidFill>
                  <a:srgbClr val="F5C518"/>
                </a:solidFill>
                <a:latin typeface="Microsoft YaHei"/>
              </a:rPr>
              <a:t>看懂产业链，才能抓住价值。</a:t>
            </a:r>
          </a:p>
        </p:txBody>
      </p:sp>
      <p:grpSp>
        <p:nvGrpSpPr>
          <p:cNvPr id="45" name="IconGroup"/>
          <p:cNvGrpSpPr/>
          <p:nvPr/>
        </p:nvGrpSpPr>
        <p:grpSpPr>
          <a:xfrm>
            <a:off x="7333488" y="5897880"/>
            <a:ext cx="420624" cy="420624"/>
            <a:chOff x="7333488" y="5897880"/>
            <a:chExt cx="420624" cy="420624"/>
          </a:xfrm>
        </p:grpSpPr>
        <p:sp>
          <p:nvSpPr>
            <p:cNvPr id="43" name="Oval 42"/>
            <p:cNvSpPr/>
            <p:nvPr/>
          </p:nvSpPr>
          <p:spPr>
            <a:xfrm>
              <a:off x="7333488" y="5897880"/>
              <a:ext cx="420624" cy="420624"/>
            </a:xfrm>
            <a:prstGeom prst="ellipse">
              <a:avLst/>
            </a:prstGeom>
            <a:noFill/>
            <a:ln w="22225"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icture 43" descr="01-capex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397496" y="5961888"/>
              <a:ext cx="292608" cy="292608"/>
            </a:xfrm>
            <a:prstGeom prst="rect">
              <a:avLst/>
            </a:prstGeom>
          </p:spPr>
        </p:pic>
      </p:grpSp>
      <p:sp>
        <p:nvSpPr>
          <p:cNvPr id="46" name="TextBox 45"/>
          <p:cNvSpPr txBox="1"/>
          <p:nvPr/>
        </p:nvSpPr>
        <p:spPr>
          <a:xfrm>
            <a:off x="6949440" y="6336792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资本开支</a:t>
            </a:r>
          </a:p>
        </p:txBody>
      </p:sp>
      <p:grpSp>
        <p:nvGrpSpPr>
          <p:cNvPr id="49" name="IconGroup"/>
          <p:cNvGrpSpPr/>
          <p:nvPr/>
        </p:nvGrpSpPr>
        <p:grpSpPr>
          <a:xfrm>
            <a:off x="8659368" y="5897880"/>
            <a:ext cx="420624" cy="420624"/>
            <a:chOff x="8659368" y="5897880"/>
            <a:chExt cx="420624" cy="420624"/>
          </a:xfrm>
        </p:grpSpPr>
        <p:sp>
          <p:nvSpPr>
            <p:cNvPr id="47" name="Oval 46"/>
            <p:cNvSpPr/>
            <p:nvPr/>
          </p:nvSpPr>
          <p:spPr>
            <a:xfrm>
              <a:off x="8659368" y="5897880"/>
              <a:ext cx="420624" cy="420624"/>
            </a:xfrm>
            <a:prstGeom prst="ellipse">
              <a:avLst/>
            </a:prstGeom>
            <a:noFill/>
            <a:ln w="22225"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48" name="Picture 47" descr="02-latency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723376" y="5961888"/>
              <a:ext cx="292608" cy="292608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8275320" y="6336792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推理延迟</a:t>
            </a:r>
          </a:p>
        </p:txBody>
      </p:sp>
      <p:grpSp>
        <p:nvGrpSpPr>
          <p:cNvPr id="53" name="IconGroup"/>
          <p:cNvGrpSpPr/>
          <p:nvPr/>
        </p:nvGrpSpPr>
        <p:grpSpPr>
          <a:xfrm>
            <a:off x="9985248" y="5897880"/>
            <a:ext cx="420624" cy="420624"/>
            <a:chOff x="9985248" y="5897880"/>
            <a:chExt cx="420624" cy="420624"/>
          </a:xfrm>
        </p:grpSpPr>
        <p:sp>
          <p:nvSpPr>
            <p:cNvPr id="51" name="Oval 50"/>
            <p:cNvSpPr/>
            <p:nvPr/>
          </p:nvSpPr>
          <p:spPr>
            <a:xfrm>
              <a:off x="9985248" y="5897880"/>
              <a:ext cx="420624" cy="420624"/>
            </a:xfrm>
            <a:prstGeom prst="ellipse">
              <a:avLst/>
            </a:prstGeom>
            <a:noFill/>
            <a:ln w="22225"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2" name="Picture 51" descr="03-unit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049256" y="5961888"/>
              <a:ext cx="292608" cy="292608"/>
            </a:xfrm>
            <a:prstGeom prst="rect">
              <a:avLst/>
            </a:prstGeom>
          </p:spPr>
        </p:pic>
      </p:grpSp>
      <p:sp>
        <p:nvSpPr>
          <p:cNvPr id="54" name="TextBox 53"/>
          <p:cNvSpPr txBox="1"/>
          <p:nvPr/>
        </p:nvSpPr>
        <p:spPr>
          <a:xfrm>
            <a:off x="9601200" y="6336792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单位经济</a:t>
            </a:r>
          </a:p>
        </p:txBody>
      </p:sp>
      <p:grpSp>
        <p:nvGrpSpPr>
          <p:cNvPr id="57" name="IconGroup"/>
          <p:cNvGrpSpPr/>
          <p:nvPr/>
        </p:nvGrpSpPr>
        <p:grpSpPr>
          <a:xfrm>
            <a:off x="11311128" y="5897880"/>
            <a:ext cx="420624" cy="420624"/>
            <a:chOff x="11311128" y="5897880"/>
            <a:chExt cx="420624" cy="420624"/>
          </a:xfrm>
        </p:grpSpPr>
        <p:sp>
          <p:nvSpPr>
            <p:cNvPr id="55" name="Oval 54"/>
            <p:cNvSpPr/>
            <p:nvPr/>
          </p:nvSpPr>
          <p:spPr>
            <a:xfrm>
              <a:off x="11311128" y="5897880"/>
              <a:ext cx="420624" cy="420624"/>
            </a:xfrm>
            <a:prstGeom prst="ellipse">
              <a:avLst/>
            </a:prstGeom>
            <a:noFill/>
            <a:ln w="22225">
              <a:solidFill>
                <a:srgbClr val="3B82F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icture 55" descr="04-pmf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1375136" y="5961888"/>
              <a:ext cx="292608" cy="292608"/>
            </a:xfrm>
            <a:prstGeom prst="rect">
              <a:avLst/>
            </a:prstGeom>
          </p:spPr>
        </p:pic>
      </p:grpSp>
      <p:sp>
        <p:nvSpPr>
          <p:cNvPr id="58" name="TextBox 57"/>
          <p:cNvSpPr txBox="1"/>
          <p:nvPr/>
        </p:nvSpPr>
        <p:spPr>
          <a:xfrm>
            <a:off x="10927080" y="6336792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B4BED2"/>
                </a:solidFill>
                <a:latin typeface="Microsoft YaHei"/>
              </a:defRPr>
            </a:pPr>
            <a:r>
              <a:t>产品契合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