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做 AI 投资？最大的差异不是模型，而是产业链。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4BED2"/>
                </a:solidFill>
                <a:latin typeface="Microsoft YaHei"/>
              </a:defRPr>
            </a:pPr>
            <a:r>
              <a:t>五层结构，一条链条，价值从芯片流向应用。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2178649" cy="3977639"/>
          </a:xfrm>
          <a:prstGeom prst="roundRect">
            <a:avLst/>
          </a:prstGeom>
          <a:solidFill>
            <a:srgbClr val="0E1C32"/>
          </a:solidFill>
          <a:ln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09928"/>
            <a:ext cx="199576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算力层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130552"/>
            <a:ext cx="203234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生于硅片，GPU 与 HBM</a:t>
            </a:r>
            <a:br/>
            <a:r>
              <a:t>驱动一切。</a:t>
            </a:r>
          </a:p>
        </p:txBody>
      </p:sp>
      <p:sp>
        <p:nvSpPr>
          <p:cNvPr id="9" name="Oval 8"/>
          <p:cNvSpPr/>
          <p:nvPr/>
        </p:nvSpPr>
        <p:spPr>
          <a:xfrm>
            <a:off x="1098468" y="2953512"/>
            <a:ext cx="621792" cy="6217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8468" y="3044952"/>
            <a:ext cx="621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芯</a:t>
            </a:r>
          </a:p>
        </p:txBody>
      </p:sp>
      <p:pic>
        <p:nvPicPr>
          <p:cNvPr id="11" name="Picture 10" descr="co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3776472"/>
            <a:ext cx="1959193" cy="15727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663281" y="1600200"/>
            <a:ext cx="2178649" cy="3977639"/>
          </a:xfrm>
          <a:prstGeom prst="roundRect">
            <a:avLst/>
          </a:prstGeom>
          <a:solidFill>
            <a:srgbClr val="0E1C32"/>
          </a:solidFill>
          <a:ln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4721" y="1709928"/>
            <a:ext cx="199576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6433" y="2130552"/>
            <a:ext cx="203234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电力、液冷与万卡</a:t>
            </a:r>
            <a:br/>
            <a:r>
              <a:t>集群规模化。</a:t>
            </a:r>
          </a:p>
        </p:txBody>
      </p:sp>
      <p:sp>
        <p:nvSpPr>
          <p:cNvPr id="15" name="Oval 14"/>
          <p:cNvSpPr/>
          <p:nvPr/>
        </p:nvSpPr>
        <p:spPr>
          <a:xfrm>
            <a:off x="3441709" y="2953512"/>
            <a:ext cx="621792" cy="6217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1709" y="3044952"/>
            <a:ext cx="621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</a:t>
            </a:r>
          </a:p>
        </p:txBody>
      </p:sp>
      <p:pic>
        <p:nvPicPr>
          <p:cNvPr id="17" name="Picture 16" descr="co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09" y="3776472"/>
            <a:ext cx="1959193" cy="157276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06522" y="1600200"/>
            <a:ext cx="2178649" cy="3977639"/>
          </a:xfrm>
          <a:prstGeom prst="roundRect">
            <a:avLst/>
          </a:prstGeom>
          <a:solidFill>
            <a:srgbClr val="0E1C32"/>
          </a:solidFill>
          <a:ln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7962" y="1709928"/>
            <a:ext cx="199576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9674" y="2130552"/>
            <a:ext cx="203234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数据训练，算力炼成</a:t>
            </a:r>
            <a:br/>
            <a:r>
              <a:t>认知能力。</a:t>
            </a:r>
          </a:p>
        </p:txBody>
      </p:sp>
      <p:sp>
        <p:nvSpPr>
          <p:cNvPr id="21" name="Oval 20"/>
          <p:cNvSpPr/>
          <p:nvPr/>
        </p:nvSpPr>
        <p:spPr>
          <a:xfrm>
            <a:off x="5784950" y="2953512"/>
            <a:ext cx="621792" cy="6217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4950" y="3044952"/>
            <a:ext cx="621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脑</a:t>
            </a:r>
          </a:p>
        </p:txBody>
      </p:sp>
      <p:pic>
        <p:nvPicPr>
          <p:cNvPr id="23" name="Picture 22" descr="col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50" y="3776472"/>
            <a:ext cx="1959193" cy="15727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349763" y="1600200"/>
            <a:ext cx="2178649" cy="3977639"/>
          </a:xfrm>
          <a:prstGeom prst="roundRect">
            <a:avLst/>
          </a:prstGeom>
          <a:solidFill>
            <a:srgbClr val="0E1C32"/>
          </a:solidFill>
          <a:ln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1203" y="1709928"/>
            <a:ext cx="199576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智能体层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2915" y="2130552"/>
            <a:ext cx="203234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工具编排，自主规划</a:t>
            </a:r>
            <a:br/>
            <a:r>
              <a:t>与闭环执行。</a:t>
            </a:r>
          </a:p>
        </p:txBody>
      </p:sp>
      <p:sp>
        <p:nvSpPr>
          <p:cNvPr id="27" name="Oval 26"/>
          <p:cNvSpPr/>
          <p:nvPr/>
        </p:nvSpPr>
        <p:spPr>
          <a:xfrm>
            <a:off x="8128191" y="2953512"/>
            <a:ext cx="621792" cy="6217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191" y="3044952"/>
            <a:ext cx="621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链</a:t>
            </a:r>
          </a:p>
        </p:txBody>
      </p:sp>
      <p:pic>
        <p:nvPicPr>
          <p:cNvPr id="29" name="Picture 28" descr="col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491" y="3776472"/>
            <a:ext cx="1959193" cy="157276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693004" y="1600200"/>
            <a:ext cx="2178649" cy="3977639"/>
          </a:xfrm>
          <a:prstGeom prst="roundRect">
            <a:avLst/>
          </a:prstGeom>
          <a:solidFill>
            <a:srgbClr val="0E1C32"/>
          </a:solidFill>
          <a:ln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444" y="1709928"/>
            <a:ext cx="199576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6156" y="2130552"/>
            <a:ext cx="203234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落地千行百业，</a:t>
            </a:r>
            <a:br/>
            <a:r>
              <a:t>嵌入日常工作。</a:t>
            </a:r>
          </a:p>
        </p:txBody>
      </p:sp>
      <p:sp>
        <p:nvSpPr>
          <p:cNvPr id="33" name="Oval 32"/>
          <p:cNvSpPr/>
          <p:nvPr/>
        </p:nvSpPr>
        <p:spPr>
          <a:xfrm>
            <a:off x="10471432" y="2953512"/>
            <a:ext cx="621792" cy="6217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71432" y="3044952"/>
            <a:ext cx="621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用</a:t>
            </a:r>
          </a:p>
        </p:txBody>
      </p:sp>
      <p:pic>
        <p:nvPicPr>
          <p:cNvPr id="35" name="Picture 34" descr="col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732" y="3776472"/>
            <a:ext cx="1959193" cy="1572768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5806440"/>
            <a:ext cx="12191695" cy="9601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62472"/>
            <a:ext cx="6400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Microsoft YaHei"/>
              </a:rPr>
              <a:t>同一技术，不同层级。</a:t>
            </a:r>
            <a:r>
              <a:rPr sz="1500" b="1">
                <a:solidFill>
                  <a:srgbClr val="F5C518"/>
                </a:solidFill>
                <a:latin typeface="Microsoft YaHei"/>
              </a:rPr>
              <a:t>看懂产业链，才能抓住价值。</a:t>
            </a:r>
          </a:p>
        </p:txBody>
      </p:sp>
      <p:sp>
        <p:nvSpPr>
          <p:cNvPr id="38" name="Oval 37"/>
          <p:cNvSpPr/>
          <p:nvPr/>
        </p:nvSpPr>
        <p:spPr>
          <a:xfrm>
            <a:off x="7406640" y="5971032"/>
            <a:ext cx="384048" cy="384048"/>
          </a:xfrm>
          <a:prstGeom prst="ellipse">
            <a:avLst/>
          </a:prstGeom>
          <a:solidFill>
            <a:srgbClr val="1E375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639165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资本开支</a:t>
            </a:r>
          </a:p>
        </p:txBody>
      </p:sp>
      <p:sp>
        <p:nvSpPr>
          <p:cNvPr id="40" name="Oval 39"/>
          <p:cNvSpPr/>
          <p:nvPr/>
        </p:nvSpPr>
        <p:spPr>
          <a:xfrm>
            <a:off x="8869680" y="5971032"/>
            <a:ext cx="384048" cy="384048"/>
          </a:xfrm>
          <a:prstGeom prst="ellipse">
            <a:avLst/>
          </a:prstGeom>
          <a:solidFill>
            <a:srgbClr val="1E375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639165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推理延迟</a:t>
            </a:r>
          </a:p>
        </p:txBody>
      </p:sp>
      <p:sp>
        <p:nvSpPr>
          <p:cNvPr id="42" name="Oval 41"/>
          <p:cNvSpPr/>
          <p:nvPr/>
        </p:nvSpPr>
        <p:spPr>
          <a:xfrm>
            <a:off x="10332720" y="5971032"/>
            <a:ext cx="384048" cy="384048"/>
          </a:xfrm>
          <a:prstGeom prst="ellipse">
            <a:avLst/>
          </a:prstGeom>
          <a:solidFill>
            <a:srgbClr val="1E375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639165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单位经济</a:t>
            </a:r>
          </a:p>
        </p:txBody>
      </p:sp>
      <p:sp>
        <p:nvSpPr>
          <p:cNvPr id="44" name="Oval 43"/>
          <p:cNvSpPr/>
          <p:nvPr/>
        </p:nvSpPr>
        <p:spPr>
          <a:xfrm>
            <a:off x="11795760" y="5971032"/>
            <a:ext cx="384048" cy="384048"/>
          </a:xfrm>
          <a:prstGeom prst="ellipse">
            <a:avLst/>
          </a:prstGeom>
          <a:solidFill>
            <a:srgbClr val="1E375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50040" y="639165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产品契合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4BED2"/>
                </a:solidFill>
                <a:latin typeface="Microsoft YaHei"/>
              </a:defRPr>
            </a:pPr>
            <a:r>
              <a:t>参考：完整信息图（第 1 页为可编辑版）</a:t>
            </a:r>
          </a:p>
        </p:txBody>
      </p:sp>
      <p:pic>
        <p:nvPicPr>
          <p:cNvPr id="4" name="Picture 3" descr="ai-industry-chain-infographic-zh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57200"/>
            <a:ext cx="11887200" cy="6686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